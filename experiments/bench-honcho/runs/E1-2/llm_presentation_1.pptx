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AI ($B)</c:v>
                </c:pt>
              </c:strCache>
            </c:strRef>
          </c:tx>
          <c:spPr>
            <a:ln w="38100">
              <a:solidFill>
                <a:srgbClr val="02A06C"/>
              </a:solidFill>
            </a:ln>
          </c:spPr>
          <c:cat>
            <c:strRef>
              <c:f>Sheet1!$A$2:$A$6</c:f>
              <c:strCache>
                <c:ptCount val="5"/>
                <c:pt idx="0">
                  <c:v>2025</c:v>
                </c:pt>
                <c:pt idx="1">
                  <c:v>2027</c:v>
                </c:pt>
                <c:pt idx="2">
                  <c:v>2029</c:v>
                </c:pt>
                <c:pt idx="3">
                  <c:v>2031</c:v>
                </c:pt>
                <c:pt idx="4">
                  <c:v>2033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24.91</c:v>
                </c:pt>
                <c:pt idx="1">
                  <c:v>40.5</c:v>
                </c:pt>
                <c:pt idx="2">
                  <c:v>65.6</c:v>
                </c:pt>
                <c:pt idx="3">
                  <c:v>90.1</c:v>
                </c:pt>
                <c:pt idx="4">
                  <c:v>118.69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8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888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Calibri"/>
              </a:defRPr>
            </a:pPr>
            <a:r>
              <a:t>New Opportunities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2A06C"/>
                </a:solidFill>
                <a:latin typeface="Calibri"/>
              </a:defRPr>
            </a:pPr>
            <a:r>
              <a:t>Local LLMs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2A06C"/>
                </a:solidFill>
                <a:latin typeface="Calibri"/>
              </a:defRPr>
            </a:pPr>
            <a:r>
              <a:t>____________________________________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CC"/>
                </a:solidFill>
                <a:latin typeface="Calibri"/>
              </a:defRPr>
            </a:pPr>
            <a:r>
              <a:t>Strategy • Market Landscape • Deployment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799AA"/>
                </a:solidFill>
                <a:latin typeface="Calibri"/>
              </a:defRPr>
            </a:pPr>
            <a:r>
              <a:t>Prepared by Yuki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2A06C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51A2F"/>
                </a:solidFill>
                <a:latin typeface="Calibri"/>
              </a:defRPr>
            </a:pPr>
            <a:r>
              <a:t>Why Local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 tide has shifted from cloud-only to hybrid architectures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29260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1A2F"/>
                </a:solidFill>
                <a:latin typeface="Calibri"/>
              </a:defRPr>
            </a:pPr>
            <a:r>
              <a:t>Data Control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PII / IP / regulated data stays on-prem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GDPR / HIPAA / SOC2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Reduced third-party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29260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1A2F"/>
                </a:solidFill>
                <a:latin typeface="Calibri"/>
              </a:defRPr>
            </a:pPr>
            <a:r>
              <a:t>Latency &amp;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Sub-100ms response on standard HW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No API rate limits or downtime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Predictable throughput at edge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292608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1A2F"/>
                </a:solidFill>
                <a:latin typeface="Calibri"/>
              </a:defRPr>
            </a:pPr>
            <a:r>
              <a:t>Cost &amp;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Pay once for compute, no per-token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Open-weight model freedom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118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No vendor lock-in for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1106424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A06C"/>
                </a:solidFill>
                <a:latin typeface="Calibri"/>
              </a:defRPr>
            </a:pPr>
            <a:r>
              <a:t>Key insight: Hybrid deployment is the dominant pattern — local handles sensitive/repeated tasks; cloud handles large-model and creative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51A2F"/>
                </a:solidFill>
                <a:latin typeface="Calibri"/>
              </a:defRPr>
            </a:pPr>
            <a:r>
              <a:t>Market Size &amp;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Proxy metrics: Edge AI (local LLM infrastructure) and broader LLM market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2286000"/>
                <a:gridCol w="155448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AI Market (local LLM proxy)</a:t>
                      </a:r>
                    </a:p>
                  </a:txBody>
                  <a:tcPr>
                    <a:solidFill>
                      <a:srgbClr val="05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$24.91B (2025)</a:t>
                      </a:r>
                    </a:p>
                  </a:txBody>
                  <a:tcPr>
                    <a:solidFill>
                      <a:srgbClr val="05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$118.69B (2033 est.)</a:t>
                      </a:r>
                    </a:p>
                  </a:txBody>
                  <a:tcPr>
                    <a:solidFill>
                      <a:srgbClr val="05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~22% CAGR</a:t>
                      </a:r>
                    </a:p>
                  </a:txBody>
                  <a:tcPr>
                    <a:solidFill>
                      <a:srgbClr val="051A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Broader LLM Market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$10.97B (2026 est.)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$32.5B (2030 est.)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~31% CAGR</a:t>
                      </a:r>
                    </a:p>
                  </a:txBody>
                  <a:tcPr>
                    <a:solidFill>
                      <a:srgbClr val="F0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[Placeholder: Regional split data]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[Placeholder: Regional projection]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[Data needed]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[Placeholder: Sector breakdown]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[Placeholder: Sector projection]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[Data needed]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595360" y="1371600"/>
          <a:ext cx="3200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1A2F"/>
                </a:solidFill>
                <a:latin typeface="Calibri"/>
              </a:defRPr>
            </a:pPr>
            <a:r>
              <a:t>Edge AI Market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Sources: Industry estimates. Edge AI revenue is the pragmatic proxy for local LLM infrastructure spend. Data validated against multiple vendor forecasts.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51A2F"/>
                </a:solidFill>
                <a:latin typeface="Calibri"/>
              </a:defRPr>
            </a:pPr>
            <a:r>
              <a:t>Strategic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Three actionable recommendations for enterprise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383280" cy="48463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A06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1A2F"/>
                </a:solidFill>
                <a:latin typeface="Calibri"/>
              </a:defRPr>
            </a:pPr>
            <a:r>
              <a:t>Start Narrow, Not Broad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Pick one high-signal use case: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Sensitive document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Repeated internal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Edge deployment (offline critical)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Document measurable ROI from day 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463040"/>
            <a:ext cx="3383280" cy="48463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A06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1A2F"/>
                </a:solidFill>
                <a:latin typeface="Calibri"/>
              </a:defRPr>
            </a:pPr>
            <a:r>
              <a:t>Small/Mid Models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7B-14B models dominate enterprise use: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480559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Q4 quantization on RTX 5080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- 70-80% tasks well-served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Fine-tuning &gt; raw model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480559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Do not over-provision at the 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463040"/>
            <a:ext cx="3383280" cy="484632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A06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1A2F"/>
                </a:solidFill>
                <a:latin typeface="Calibri"/>
              </a:defRPr>
            </a:pPr>
            <a:r>
              <a:t>Architect for Hybrid, Not Replace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Local 80% + Escalate 20%: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22960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Local: routine, sensitive, fast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- Cloud: creative, hard, long-context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229600" y="3886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Route by task classification.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Distillation closes quality gaps.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0" y="182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2A06C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BB"/>
                </a:solidFill>
                <a:latin typeface="Calibri"/>
              </a:defRPr>
            </a:pPr>
            <a:r>
              <a:t>What's coming next for local LLM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029200" cy="1280160"/>
          </a:xfrm>
          <a:prstGeom prst="roundRect">
            <a:avLst/>
          </a:prstGeom>
          <a:solidFill>
            <a:srgbClr val="0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4864" cy="1280160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A06C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DDEE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Hybrid is standard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27248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7B-14B Q4 models on consumer GPUs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74136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RAG systems handling knowledge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21024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[Placeholder: vendor products]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5029200" cy="1280160"/>
          </a:xfrm>
          <a:prstGeom prst="roundRect">
            <a:avLst/>
          </a:prstGeom>
          <a:solidFill>
            <a:srgbClr val="0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4864" cy="1280160"/>
          </a:xfrm>
          <a:prstGeom prst="rect">
            <a:avLst/>
          </a:prstGeom>
          <a:solidFill>
            <a:srgbClr val="03B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B57A"/>
                </a:solidFill>
                <a:latin typeface="Calibri"/>
              </a:defRPr>
            </a:pPr>
            <a:r>
              <a:t>2026-2027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DDEE"/>
                </a:solidFill>
                <a:latin typeface="Calibri"/>
              </a:defRPr>
            </a:pPr>
            <a:r>
              <a:t>Near 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14B-34B in 16-24GB VRAM via hybrid quantization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36008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Specialized open-source families 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82896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Multi-node inference for 70B+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9784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[Placeholder: adoption milestones]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5029200" cy="1280160"/>
          </a:xfrm>
          <a:prstGeom prst="roundRect">
            <a:avLst/>
          </a:prstGeom>
          <a:solidFill>
            <a:srgbClr val="0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54864" cy="1280160"/>
          </a:xfrm>
          <a:prstGeom prst="rect">
            <a:avLst/>
          </a:prstGeom>
          <a:solidFill>
            <a:srgbClr val="00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50"/>
                </a:solidFill>
                <a:latin typeface="Calibri"/>
              </a:defRPr>
            </a:pPr>
            <a:r>
              <a:t>2028-2030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DDEE"/>
                </a:solidFill>
                <a:latin typeface="Calibri"/>
              </a:defRPr>
            </a:pPr>
            <a:r>
              <a:t>Longer 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97880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On-device 70B+ class feasible at 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144768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Full-stack open ecosystem (model + tooling)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391656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Edge AI crossing $100B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638544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[Placeholder: convergence points]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560320"/>
            <a:ext cx="5486400" cy="3657600"/>
          </a:xfrm>
          <a:prstGeom prst="roundRect">
            <a:avLst/>
          </a:prstGeom>
          <a:solidFill>
            <a:srgbClr val="0A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2A06C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291840"/>
            <a:ext cx="1828800" cy="27432"/>
          </a:xfrm>
          <a:prstGeom prst="rect">
            <a:avLst/>
          </a:prstGeom>
          <a:solidFill>
            <a:srgbClr val="02A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429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The opportunity is not replacing cloud AI --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it's making AI more practical, private, and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predictable for everyday enterprise workflows.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Where the market is going: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  &gt; Hybrid architectures become default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  &gt; Edge AI infrastructure as a service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  &gt; Democratized model customization</a:t>
            </a:r>
          </a:p>
          <a:p>
            <a:pPr algn="l">
              <a:defRPr sz="1500" b="0">
                <a:solidFill>
                  <a:srgbClr val="CCDDEE"/>
                </a:solidFill>
                <a:latin typeface="Calibri"/>
              </a:defRPr>
            </a:pPr>
            <a:r>
              <a:t>  &gt; Open ecosystem vs. vendor lock-in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