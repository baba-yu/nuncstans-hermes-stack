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Value ($B)</c:v>
                </c:pt>
              </c:strCache>
            </c:strRef>
          </c:tx>
          <c:spPr>
            <a:solidFill>
              <a:srgbClr val="0EA5E9"/>
            </a:solidFill>
            <a:effectLst>
              <a:outerShdw sx="100000" sy="100000" kx="0" ky="0" algn="bl" blurRad="50800" rotWithShape="1" dist="25400" dir="8100000">
                <a:srgbClr val="000000">
                  <a:alpha val="10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A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2024</c:v>
                  </c:pt>
                  <c:pt idx="1">
                    <c:v>2025E</c:v>
                  </c:pt>
                  <c:pt idx="2">
                    <c:v>2026E</c:v>
                  </c:pt>
                  <c:pt idx="3">
                    <c:v>2027E</c:v>
                  </c:pt>
                  <c:pt idx="4">
                    <c:v>2028E</c:v>
                  </c:pt>
                  <c:pt idx="5">
                    <c:v>2029E</c:v>
                  </c:pt>
                  <c:pt idx="6">
                    <c:v>2030E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12.4</c:v>
                </c:pt>
                <c:pt idx="1">
                  <c:v>18.7</c:v>
                </c:pt>
                <c:pt idx="2">
                  <c:v>28.3</c:v>
                </c:pt>
                <c:pt idx="3">
                  <c:v>41.2</c:v>
                </c:pt>
                <c:pt idx="4">
                  <c:v>56.8</c:v>
                </c:pt>
                <c:pt idx="5">
                  <c:v>74.5</c:v>
                </c:pt>
                <c:pt idx="6">
                  <c:v>96.2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A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Local LLM</c:v>
                </c:pt>
              </c:strCache>
            </c:strRef>
          </c:tx>
          <c:spPr>
            <a:solidFill>
              <a:srgbClr val="0EA5E9"/>
            </a:solidFill>
            <a:ln w="38100" cap="flat">
              <a:solidFill>
                <a:srgbClr val="0EA5E9"/>
              </a:solidFill>
              <a:prstDash val="solid"/>
              <a:round/>
            </a:ln>
            <a:effectLst>
              <a:outerShdw sx="100000" sy="100000" kx="0" ky="0" algn="bl" blurRad="50800" rotWithShape="1" dist="25400" dir="8100000">
                <a:srgbClr val="000000">
                  <a:alpha val="8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A5E9"/>
              </a:solidFill>
              <a:ln w="9525" cap="flat">
                <a:solidFill>
                  <a:srgbClr val="0EA5E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2024</c:v>
                  </c:pt>
                  <c:pt idx="1">
                    <c:v>2025E</c:v>
                  </c:pt>
                  <c:pt idx="2">
                    <c:v>2026E</c:v>
                  </c:pt>
                  <c:pt idx="3">
                    <c:v>2027E</c:v>
                  </c:pt>
                  <c:pt idx="4">
                    <c:v>2028E</c:v>
                  </c:pt>
                  <c:pt idx="5">
                    <c:v>2029E</c:v>
                  </c:pt>
                  <c:pt idx="6">
                    <c:v>2030E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</c:v>
                </c:pt>
                <c:pt idx="1">
                  <c:v>14</c:v>
                </c:pt>
                <c:pt idx="2">
                  <c:v>22</c:v>
                </c:pt>
                <c:pt idx="3">
                  <c:v>32</c:v>
                </c:pt>
                <c:pt idx="4">
                  <c:v>42</c:v>
                </c:pt>
                <c:pt idx="5">
                  <c:v>54</c:v>
                </c:pt>
                <c:pt idx="6">
                  <c:v>65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Cloud LLM</c:v>
                </c:pt>
              </c:strCache>
            </c:strRef>
          </c:tx>
          <c:spPr>
            <a:solidFill>
              <a:srgbClr val="CBD5E1"/>
            </a:solidFill>
            <a:ln w="38100" cap="flat">
              <a:solidFill>
                <a:srgbClr val="CBD5E1"/>
              </a:solidFill>
              <a:prstDash val="solid"/>
              <a:round/>
            </a:ln>
            <a:effectLst>
              <a:outerShdw sx="100000" sy="100000" kx="0" ky="0" algn="bl" blurRad="50800" rotWithShape="1" dist="25400" dir="8100000">
                <a:srgbClr val="000000">
                  <a:alpha val="8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BD5E1"/>
              </a:solidFill>
              <a:ln w="9525" cap="flat">
                <a:solidFill>
                  <a:srgbClr val="CBD5E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2024</c:v>
                  </c:pt>
                  <c:pt idx="1">
                    <c:v>2025E</c:v>
                  </c:pt>
                  <c:pt idx="2">
                    <c:v>2026E</c:v>
                  </c:pt>
                  <c:pt idx="3">
                    <c:v>2027E</c:v>
                  </c:pt>
                  <c:pt idx="4">
                    <c:v>2028E</c:v>
                  </c:pt>
                  <c:pt idx="5">
                    <c:v>2029E</c:v>
                  </c:pt>
                  <c:pt idx="6">
                    <c:v>2030E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92</c:v>
                </c:pt>
                <c:pt idx="1">
                  <c:v>86</c:v>
                </c:pt>
                <c:pt idx="2">
                  <c:v>78</c:v>
                </c:pt>
                <c:pt idx="3">
                  <c:v>68</c:v>
                </c:pt>
                <c:pt idx="4">
                  <c:v>58</c:v>
                </c:pt>
                <c:pt idx="5">
                  <c:v>46</c:v>
                </c:pt>
                <c:pt idx="6">
                  <c:v>35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09728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Opportunities for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828800" y="32918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Running Large Language Models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and at the Edge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0" y="4206240"/>
            <a:ext cx="1828800" cy="36576"/>
          </a:xfrm>
          <a:prstGeom prst="rect">
            <a:avLst/>
          </a:prstGeom>
          <a:solidFill>
            <a:srgbClr val="0EA5E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A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Landscape: Why Local LLMs Matter 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 for Local LLM Adoption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&amp; Compliance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148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sensitive data on-premise; no third-party access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880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API costs; self-hosted inference at scale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337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6118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 for real-time inference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069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Capability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4343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without internet connectivity</a:t>
            </a:r>
            <a:endParaRPr lang="en-US" sz="12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846320" y="1280160"/>
          <a:ext cx="38404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A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LLMs vs. Cloud LLMs: A Comparative Analysis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3291840"/>
        </p:xfrm>
        <a:graphic>
          <a:graphicData uri="http://schemas.openxmlformats.org/drawingml/2006/table">
            <a:tbl>
              <a:tblPr/>
              <a:tblGrid>
                <a:gridCol w="2377440"/>
                <a:gridCol w="2834640"/>
                <a:gridCol w="2834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Criteria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Local LLMs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75569"/>
                          </a:solidFill>
                        </a:rPr>
                        <a:t>Cloud LLMs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Cost (per 1M tokens)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$0.05 - $2.00*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$1.50 - $15.00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Data Privacy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✅ Full control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⚠ Third-party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Latency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&lt;10ms (GPU)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100-500ms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Customization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✅ Fine-tune + LoRA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⚠ Limited API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Hardware Required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GPU (8GB+ VRAM)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None (API)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*Varies by model size; 7B-70B parameter models on consumer GPUs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A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Forecasts: Quantitative Market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01168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71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$96B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Market by 2030E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(CAGR 36.4%)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1234440"/>
            <a:ext cx="201168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88920" y="1371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4.2x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88920" y="1920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cloud adoption rate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201168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1371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983480" y="1920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piloting local LLMs by 2025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1234440"/>
            <a:ext cx="2011680" cy="1463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78040" y="1371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178040" y="19202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migration to on-premise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cloud providers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Market Share: Local vs Cloud LLM Inference Workloads (%)</a:t>
            </a:r>
            <a:endParaRPr lang="en-US" sz="14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57200" y="3474720"/>
          <a:ext cx="822960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0" y="1280160"/>
            <a:ext cx="18288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73736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4440" y="192024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Ready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9260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infrastructure is production-ready with open-source frameworks (vLLM, Ollama, llama.cpp)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173736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92024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4320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Advantage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88920" y="29260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70% cost reduction for high-volume workloads compared to API-based inference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73736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23560" y="192024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562356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93776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29260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requirements (GDPR, HIPAA) are driving on-premise adoption across industries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40880" y="173736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18120" y="192024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78181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3232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2025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78040" y="29260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predicts 80% of enterprises will deploy local LLMs alongside cloud by 2026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4480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AI is local, hybrid, and sovereign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Opportunities for Local LLMs</dc:title>
  <dc:subject>PptxGenJS Presentation</dc:subject>
  <dc:creator>AI Agent</dc:creator>
  <cp:lastModifiedBy>AI Agent</cp:lastModifiedBy>
  <cp:revision>1</cp:revision>
  <dcterms:created xsi:type="dcterms:W3CDTF">2026-04-21T10:17:09Z</dcterms:created>
  <dcterms:modified xsi:type="dcterms:W3CDTF">2026-04-21T10:17:09Z</dcterms:modified>
</cp:coreProperties>
</file>