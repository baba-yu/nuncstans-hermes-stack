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1645920"/>
            <a:ext cx="7589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New Opportunities for Local LLMs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47472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D4FF"/>
                </a:solidFill>
                <a:latin typeface="Calibri"/>
              </a:defRPr>
            </a:pPr>
            <a:r>
              <a:t>Hybrid Deployment: Feasible, Practical, and Strategic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75488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A0AA"/>
                </a:solidFill>
                <a:latin typeface="Calibri"/>
              </a:defRPr>
            </a:pPr>
            <a:r>
              <a:t>Enterprise PC &amp; Edge Workloads on Consumer Hardware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Reality: Hybrid Deployment, Not Replacement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A0AA"/>
                </a:solidFill>
                <a:latin typeface="Calibri"/>
              </a:defRPr>
            </a:pPr>
            <a:r>
              <a:t>Organizations run local models on enterprise-owned PCs, workstations, servers, and edge devices — not to replace cloud, but to cover what cloud can't.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291840" cy="3657600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1A2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Calibri"/>
              </a:defRPr>
            </a:pPr>
            <a:r>
              <a:t>Lower Data Exposure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51760"/>
            <a:ext cx="28346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E8ECF0"/>
                </a:solidFill>
                <a:latin typeface="Calibri"/>
              </a:defRPr>
            </a:pPr>
            <a:r>
              <a:t>Sensitive documents never leave the perimeter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E8ECF0"/>
                </a:solidFill>
                <a:latin typeface="Calibri"/>
              </a:defRPr>
            </a:pPr>
            <a:r>
              <a:t>No third-party API sharing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E8ECF0"/>
                </a:solidFill>
                <a:latin typeface="Calibri"/>
              </a:defRPr>
            </a:pPr>
            <a:r>
              <a:t>GDPR / HIPAA / sovereign data control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920240"/>
            <a:ext cx="3291840" cy="3657600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1A2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031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Calibri"/>
              </a:defRPr>
            </a:pPr>
            <a:r>
              <a:t>Real-Time Latency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651760"/>
            <a:ext cx="28346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E8ECF0"/>
                </a:solidFill>
                <a:latin typeface="Calibri"/>
              </a:defRPr>
            </a:pPr>
            <a:r>
              <a:t>On-device inference — no network round-trip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E8ECF0"/>
                </a:solidFill>
                <a:latin typeface="Calibri"/>
              </a:defRPr>
            </a:pPr>
            <a:r>
              <a:t>Predictable response times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E8ECF0"/>
                </a:solidFill>
                <a:latin typeface="Calibri"/>
              </a:defRPr>
            </a:pPr>
            <a:r>
              <a:t>Factory / retail edge workflows demand 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920240"/>
            <a:ext cx="3291840" cy="3657600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1A2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21031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Calibri"/>
              </a:defRPr>
            </a:pPr>
            <a:r>
              <a:t>Control &amp; Customization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2651760"/>
            <a:ext cx="28346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E8ECF0"/>
                </a:solidFill>
                <a:latin typeface="Calibri"/>
              </a:defRPr>
            </a:pPr>
            <a:r>
              <a:t>Open models — inspect and modify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E8ECF0"/>
                </a:solidFill>
                <a:latin typeface="Calibri"/>
              </a:defRPr>
            </a:pPr>
            <a:r>
              <a:t>Fine-tune on internal data via LoRA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E8ECF0"/>
                </a:solidFill>
                <a:latin typeface="Calibri"/>
              </a:defRPr>
            </a:pPr>
            <a:r>
              <a:t>No vendor lock-in or rate limits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Operational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88A0AA"/>
                </a:solidFill>
                <a:latin typeface="Calibri"/>
              </a:defRPr>
            </a:pPr>
            <a:r>
              <a:t>High-value scenarios where local inference solves real constraints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4864" cy="5486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Sensitive Document 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7373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A0AA"/>
                </a:solidFill>
                <a:latin typeface="Calibri"/>
              </a:defRPr>
            </a:pPr>
            <a:r>
              <a:t>Internal knowledge base queries without sending data to external APIs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423160"/>
            <a:ext cx="54864" cy="548640"/>
          </a:xfrm>
          <a:prstGeom prst="rect">
            <a:avLst/>
          </a:prstGeom>
          <a:solidFill>
            <a:srgbClr val="00E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23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Internal Copilots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4231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A0AA"/>
                </a:solidFill>
                <a:latin typeface="Calibri"/>
              </a:defRPr>
            </a:pPr>
            <a:r>
              <a:t>Code assistants, drafting, and summarization tailored to org terminology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108960"/>
            <a:ext cx="54864" cy="548640"/>
          </a:xfrm>
          <a:prstGeom prst="rect">
            <a:avLst/>
          </a:prstGeom>
          <a:solidFill>
            <a:srgbClr val="00E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108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Code Assistance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1089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A0AA"/>
                </a:solidFill>
                <a:latin typeface="Calibri"/>
              </a:defRPr>
            </a:pPr>
            <a:r>
              <a:t>Offline coding helpers trained on proprietary codebases and standards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794760"/>
            <a:ext cx="54864" cy="548640"/>
          </a:xfrm>
          <a:prstGeom prst="rect">
            <a:avLst/>
          </a:prstGeom>
          <a:solidFill>
            <a:srgbClr val="00E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794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Factory / Retail 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7947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A0AA"/>
                </a:solidFill>
                <a:latin typeface="Calibri"/>
              </a:defRPr>
            </a:pPr>
            <a:r>
              <a:t>Low-latency inference where connectivity is unreliable or unavailable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480560"/>
            <a:ext cx="54864" cy="5486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480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RAG-Based Knowledge Systems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4805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A0AA"/>
                </a:solidFill>
                <a:latin typeface="Calibri"/>
              </a:defRPr>
            </a:pPr>
            <a:r>
              <a:t>Retrieval-augmented workflows — search + summarize over internal docs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Market Indicators &amp; Timing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A0AA"/>
                </a:solidFill>
                <a:latin typeface="Calibri"/>
              </a:defRPr>
            </a:pPr>
            <a:r>
              <a:t>No single "Local LLM" category exists — use market proxies to gauge scale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303520" cy="2926080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1A2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EDGE AI MARKET  (proxy for on-device LLM)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$24.91B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A0AA"/>
                </a:solidFill>
                <a:latin typeface="Calibri"/>
              </a:defRPr>
            </a:pPr>
            <a:r>
              <a:t>(2025 estimate)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E884"/>
                </a:solidFill>
                <a:latin typeface="Calibri"/>
              </a:defRPr>
            </a:pPr>
            <a:r>
              <a:t>→  $118.69B by 2033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737360"/>
            <a:ext cx="4937760" cy="2926080"/>
          </a:xfrm>
          <a:prstGeom prst="roundRect">
            <a:avLst/>
          </a:prstGeom>
          <a:solidFill>
            <a:srgbClr val="141F33"/>
          </a:solidFill>
          <a:ln w="12700">
            <a:solidFill>
              <a:srgbClr val="1A2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E55A"/>
                </a:solidFill>
                <a:latin typeface="Calibri"/>
              </a:defRPr>
            </a:pPr>
            <a:r>
              <a:t>BROADER LLM MARKET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4688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$10.97B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108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A0AA"/>
                </a:solidFill>
                <a:latin typeface="Calibri"/>
              </a:defRPr>
            </a:pPr>
            <a:r>
              <a:t>(2026 estimate)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474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E884"/>
                </a:solidFill>
                <a:latin typeface="Calibri"/>
              </a:defRPr>
            </a:pPr>
            <a:r>
              <a:t>→  $32.5B by 2030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37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A0AA"/>
                </a:solidFill>
                <a:latin typeface="Calibri"/>
              </a:defRPr>
            </a:pPr>
            <a:r>
              <a:t>Source: Placeholders for specific vendor attributions. Edge AI is the closest widely-defined market proxy for local/on-device AI workloads.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Strategic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88A0AA"/>
                </a:solidFill>
                <a:latin typeface="Calibri"/>
              </a:defRPr>
            </a:pPr>
            <a:r>
              <a:t>Lowest-risk path to measurable value with local LLMs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4864" cy="10058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Calibri"/>
              </a:defRPr>
            </a:pPr>
            <a:r>
              <a:t>1  Start with a Narrow, High-Value Use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84831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A0AA"/>
                </a:solidFill>
                <a:latin typeface="Calibri"/>
              </a:defRPr>
            </a:pPr>
            <a:r>
              <a:t>Pick tasks with sensitive data, repeated internal workflows, and measurable ROI. Proof value with one workload before scaling to others.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926080"/>
            <a:ext cx="54864" cy="10058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26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Calibri"/>
              </a:defRPr>
            </a:pPr>
            <a:r>
              <a:t>2  Use Small or Mid-Sized Open Models 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7355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A0AA"/>
                </a:solidFill>
                <a:latin typeface="Calibri"/>
              </a:defRPr>
            </a:pPr>
            <a:r>
              <a:t>7B–13B parameter models on consumer hardware deliver strong results at low cost. Open formats (GGUF, ONNX) prevent lock-in.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114800"/>
            <a:ext cx="54864" cy="10058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14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Calibri"/>
              </a:defRPr>
            </a:pPr>
            <a:r>
              <a:t>3  Keep a Hybrid Path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46227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A0AA"/>
                </a:solidFill>
                <a:latin typeface="Calibri"/>
              </a:defRPr>
            </a:pPr>
            <a:r>
              <a:t>Larger or more complex tasks are still better served by cloud APIs. Route intelligently — local where it helps, cloud where it's needed.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